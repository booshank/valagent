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256032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VAL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9F3F3"/>
                </a:solidFill>
                <a:latin typeface="Calibri"/>
              </a:rPr>
              <a:t>Synthetic Contract Intelligence
Tool-Layer POC — Architecture &amp; Process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99669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Current: Streamlit → Flask /api/messages → LangChain or offline router → FastMCP → LinkSquares fixtures + persona memory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Persona memory: save / pin / filter / recall / delete prior searches and conversations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Compare hard-stop when IDs missing · Invoice/actual-spend OOS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1. Runtime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Keep the tool layer stable; swap data sources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5577840" cy="4754880"/>
          </a:xfrm>
          <a:prstGeom prst="roundRect">
            <a:avLst>
              <a:gd name="adj" fmla="val 12000"/>
            </a:avLst>
          </a:prstGeom>
          <a:solidFill>
            <a:srgbClr val="D9F3F3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CURRENT — Tool-Layer POC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Streamlit UI + Saved searches
→ Flask POST /api/messages
→ LangChain AgentExecutor
   or offline cognitive router
→ FastMCP tool server
→ ContractRepository
→ LinkSquares offline fixtures
→ SQLite persona memory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577840" cy="47548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EVOLUTION — Data source swap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Same Streamlit / Flask host
→ Same MCP / API tools
→ ContractRepository
→ Synthetic fixtures today
→ Live Fabric SQL later
→ Live LinkSquares / CLM later
→ Grounded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2. Tool-Layer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Four layers + persona memory + replaceable ContractRepository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97280"/>
            <a:ext cx="11521440" cy="9601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Layer 1 — Validation UI (test_ui)</a:t>
            </a:r>
          </a:p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Streamlit chat · persona picker · Saved searches sidebar → COPILOT_MESSAGES_URL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148840"/>
            <a:ext cx="11521440" cy="1143000"/>
          </a:xfrm>
          <a:prstGeom prst="roundRect">
            <a:avLst>
              <a:gd name="adj" fmla="val 12000"/>
            </a:avLst>
          </a:prstGeom>
          <a:solidFill>
            <a:srgbClr val="D9F3F3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Layer 2 — Cognitive Routing + Memory (copilot_agent + memory/)</a:t>
            </a:r>
          </a:p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Flask /api/messages · /api/memory/* · LangChain / offline_router · SYSTEM_PROMPT · invoice OOS · compare hard-stop · SQLite persona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3429000"/>
            <a:ext cx="11521440" cy="14173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Layer 3 — Data Retrieval (mcp_server)</a:t>
            </a:r>
          </a:p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ContractRepository → analytics / risk helpers
Tools: search · profile · compare (N-way) · missing-fields · expiring · spend rollup · overlaps · risk · blob search · health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4983480"/>
            <a:ext cx="1152144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Layer 4 — Synthetic Gold (LinkSquares fixtures)</a:t>
            </a:r>
          </a:p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LinSquare_Contracts_100_Updated_30bb.json + agreement_9a06.json · future live Fabric / LinkSquares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3. End-to-End Request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Deterministic offline path used for demo reliability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17320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1. User prompt</a:t>
            </a:r>
          </a:p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Streamlit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417320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2. Guardrails</a:t>
            </a:r>
          </a:p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OOS / hard-stop / memory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1417320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D9F3F3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3. Route intent</a:t>
            </a:r>
          </a:p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offline_router / LLM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417320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4. MCP tools</a:t>
            </a:r>
          </a:p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ContractRepository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1417320"/>
            <a:ext cx="2148840" cy="114300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5. Reply + save</a:t>
            </a:r>
          </a:p>
          <a:p>
            <a:pPr algn="ctr"/>
            <a:r>
              <a:rPr sz="1000" b="0">
                <a:solidFill>
                  <a:srgbClr val="334155"/>
                </a:solidFill>
                <a:latin typeface="Calibri"/>
              </a:rPr>
              <a:t>Markdown · auto-save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1720" y="1874519"/>
            <a:ext cx="274320" cy="164592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663440" y="1874519"/>
            <a:ext cx="274320" cy="164592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995160" y="1874519"/>
            <a:ext cx="274320" cy="164592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9326880" y="1874519"/>
            <a:ext cx="274320" cy="164592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11430000" cy="32461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587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Intent → primary tool / outcome</a:t>
            </a:r>
          </a:p>
          <a:p>
            <a:pPr algn="ctr"/>
            <a:r>
              <a:rPr sz="1100" b="0">
                <a:solidFill>
                  <a:srgbClr val="334155"/>
                </a:solidFill>
                <a:latin typeface="Calibri"/>
              </a:rPr>
              <a:t>Show contracts for vendor → search_contracts
Details for CON-0002 → get_contract_profile
Overlapping contracts → find_overlaps
Unusual payment / high rates → explain_contract_risk
Compare CON-0001 vs CON-0002 → compare_contracts (N-way any IDs)
Compare unknown vendor/ID → hard-stop message only (no table / no recommendation)
Need action next 90 days → get_expiring_contracts
Previous / saved searches → persona memory recall (/api/memory/*)
Invoice spend also? → exact OOS refusal (no tools)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3b. Compare Hard-Stop &amp; Persona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Deterministic offline paths — no LLM default pairs, no invented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34440"/>
            <a:ext cx="5669280" cy="484632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Compare hard-stop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If any requested supplier or contract ID
cannot be resolved:
Return ONLY:
“The contract information requested
for the comparison is not available
at the moment”
• No comparative table
• No ## Recommendation
• No CON-0001 vs CON-0002 default
• Compare intents → offline_router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34440"/>
            <a:ext cx="5486400" cy="4846320"/>
          </a:xfrm>
          <a:prstGeom prst="roundRect">
            <a:avLst>
              <a:gd name="adj" fmla="val 12000"/>
            </a:avLst>
          </a:prstGeom>
          <a:solidFill>
            <a:srgbClr val="D9F3F3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Persona memory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SQLite: data/persona_memory.sqlite
(override VAL_MEMORY_DB)
• Auto-save search-like queries
• Pin / filter / delete searches
• Delete prior conversations
• GET/POST /api/memory/searches
• DELETE /api/memory/conversations
• GET /api/memory/recall
• Memory-recall → offline store
• Streamlit owns writes when
  clientPersistsMemory is set
memory/store.py + test_ui sidebar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4. ContractRepository Abstraction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Data source is replaceable without changing tool contracts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D9F3F3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ContractRepository</a:t>
            </a:r>
          </a:p>
          <a:p>
            <a:pPr algn="ctr"/>
            <a:r>
              <a:rPr sz="1400" b="0">
                <a:solidFill>
                  <a:srgbClr val="334155"/>
                </a:solidFill>
                <a:latin typeface="Calibri"/>
              </a:rPr>
              <a:t>list_all()
get_by_id(contract_id)
search(filters)
get_by_vendor(vendor)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97680" y="3383280"/>
            <a:ext cx="457200" cy="256032"/>
          </a:xfrm>
          <a:prstGeom prst="rightArrow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37760" y="1280160"/>
            <a:ext cx="3291840" cy="21031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Today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FabricContractRepository
→ LinkSquares fixtures
→ Gold-shaped projections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3657600"/>
            <a:ext cx="3291840" cy="237744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Later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Live LinkSquares / CLM
same tool signatures
same snake_case projections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280160"/>
            <a:ext cx="3200400" cy="475488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Consumers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search_contracts
get_contract_profile
find_overlaps
explain_contract_risk
compare / missing / expiring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5. Structured Intelligence Tools (P0/P1)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Grounded metadata tools — not document 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search_contracts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Vendor/BU/status/type filters
Stable snake_case catalog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D9F3F3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get_contract_profile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One contract_id profile
+ missing_fields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18872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compare_contracts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Pairwise / N-way any IDs
Hard-stop if unresolved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65760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explain_contract_risk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known_facts vs computed_risks
missing_data + review 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365760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find_overlaps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Same-vendor date overlaps
OverlapFlag-aware pairs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566160" cy="210312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3"/>
                </a:solidFill>
                <a:latin typeface="Calibri"/>
              </a:rPr>
              <a:t>Demo fixtures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LinkSquares 100 contracts
Microsoft/AWS overlaps &amp; Net 180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6. Overlap &amp; Risk Explanation 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Separate facts from computed risks — no invented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28016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FFEDD5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find_overlaps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1. Load contracts via repository
2. Group by vendor
3. Prefer OverlapFlag=Yes pairs
4. Emit overlap_start/end
5. why_flagged + source
Demo: CON-0024 ∩ CON-0029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3657600" cy="47548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explain_contract_risk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Flags only if data supports:
• missing renewal
• missing rate card
• expiring soon
• Net 90+ terms
• high ACV outlier
• high supplier risk
• overlapping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280160"/>
            <a:ext cx="3566160" cy="4754880"/>
          </a:xfrm>
          <a:prstGeom prst="roundRect">
            <a:avLst>
              <a:gd name="adj" fmla="val 12000"/>
            </a:avLst>
          </a:prstGeom>
          <a:solidFill>
            <a:srgbClr val="D9F3F3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Response sections</a:t>
            </a:r>
          </a:p>
          <a:p>
            <a:pPr algn="ctr"/>
            <a:r>
              <a:rPr sz="1200" b="0">
                <a:solidFill>
                  <a:srgbClr val="334155"/>
                </a:solidFill>
                <a:latin typeface="Calibri"/>
              </a:rPr>
              <a:t>known_facts
computed_risks
missing_data
recommended_review_action
source
Never invent unsupported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7. Full MCP Tool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fabric_data FastMCP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Structured / analytics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search_contracts
get_contract_profile
find_overlaps
explain_contract_risk
compare_contracts (N-way; hard-stop)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394960" cy="438912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B1F33"/>
                </a:solidFill>
                <a:latin typeface="Calibri"/>
              </a:rPr>
              <a:t>Commercial / docs / health</a:t>
            </a:r>
          </a:p>
          <a:p>
            <a:pPr algn="ctr"/>
            <a:r>
              <a:rPr sz="1300" b="0">
                <a:solidFill>
                  <a:srgbClr val="334155"/>
                </a:solidFill>
                <a:latin typeface="Calibri"/>
              </a:rPr>
              <a:t>check_missing_contract_fields
get_expiring_contracts
get_vendor_spend_summary (ACV rollup only)
search_cloud_blob_contracts (docs)
fabric_health_check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8. Demo-Ready Slice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334155"/>
                </a:solidFill>
                <a:latin typeface="Calibri"/>
              </a:rPr>
              <a:t>Reliable · safe · synthetic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91C1C"/>
                </a:solidFill>
                <a:latin typeface="Calibri"/>
              </a:rPr>
              <a:t>Safe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143000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Invoice OOS + compare hard-stop (exact messages; no default CON-* pair)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D1FAE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47857"/>
                </a:solidFill>
                <a:latin typeface="Calibri"/>
              </a:rPr>
              <a:t>Structured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103120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search / profile / N-way compare / overlaps / risk via ContractRepository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4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D9F3F3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E6B6B"/>
                </a:solidFill>
                <a:latin typeface="Calibri"/>
              </a:rPr>
              <a:t>Persona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063240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E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SQLite save / pin / filter / recall / delete searches and conversations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6D28D9"/>
                </a:solidFill>
                <a:latin typeface="Calibri"/>
              </a:rPr>
              <a:t>LinkSquares fixtures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023360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CON-* offline data + docs/demo_script.md; live CLM later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8348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5309"/>
                </a:solidFill>
                <a:latin typeface="Calibri"/>
              </a:rPr>
              <a:t>Local 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4983480"/>
            <a:ext cx="8686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1F33"/>
                </a:solidFill>
                <a:latin typeface="Calibri"/>
              </a:rPr>
              <a:t>Streamlit → Flask → FastMCP is the sole validated POC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Synthetic Contract Intelligence Tool-Layer POC · Slide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
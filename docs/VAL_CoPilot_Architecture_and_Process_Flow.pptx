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VAL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D9F3F3"/>
                </a:solidFill>
                <a:latin typeface="Calibri"/>
              </a:rPr>
              <a:t>Architecture &amp; Process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Three-layer monorepo: Validation UI → Cognitive Routing → Data Retrieval MCP</a:t>
            </a:r>
          </a:p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Includes contract lifecycle procedures, compare framework, and Foundry deploy path</a:t>
            </a:r>
          </a:p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Excluded: USE_OFFLINE_MOCKS, offline cognitive router, test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1. Production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Streamlit → Flask / LangChain / Azure OpenAI → MCP tools → Fabric SQL + Azure AI Search (+ PGVector)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34440"/>
            <a:ext cx="11521440" cy="123444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Calibri"/>
              </a:rPr>
              <a:t>Layer 1 — Validation UI (test_ui)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291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Streamlit test_ui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Bot Framework activity builder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291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User Prompt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Markdown reply rendering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645920"/>
            <a:ext cx="3291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HTTP Client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COPILOT_MESSAGES_URL → :3978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77639" y="1874519"/>
            <a:ext cx="320040" cy="164592"/>
          </a:xfrm>
          <a:prstGeom prst="rightArrow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635240" y="1874519"/>
            <a:ext cx="320040" cy="164592"/>
          </a:xfrm>
          <a:prstGeom prst="rightArrow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651760"/>
            <a:ext cx="11521440" cy="1965960"/>
          </a:xfrm>
          <a:prstGeom prst="roundRect">
            <a:avLst>
              <a:gd name="adj" fmla="val 4000"/>
            </a:avLst>
          </a:prstGeom>
          <a:solidFill>
            <a:srgbClr val="D9F3F3"/>
          </a:solidFill>
          <a:ln w="19050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24912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E6B6B"/>
                </a:solidFill>
                <a:latin typeface="Calibri"/>
              </a:rPr>
              <a:t>Layer 2 — Cognitive Routing (copilot_agent)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0896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Flask /api/messages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app.py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310896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LangChain AgentExecutor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OpenAI tools agent + SYSTEM_PROMPT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10896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Azure OpenAI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AzureChatOpenAI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310896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Cognitive Procedures</a:t>
            </a:r>
          </a:p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Compare · Audit · Exposure…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46120" y="3383280"/>
            <a:ext cx="320040" cy="164592"/>
          </a:xfrm>
          <a:prstGeom prst="rightArrow">
            <a:avLst/>
          </a:prstGeom>
          <a:solidFill>
            <a:srgbClr val="0E6B6B"/>
          </a:solidFill>
          <a:ln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355080" y="3383280"/>
            <a:ext cx="320040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502920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DualMCPBridge (mcp_clients.py) — stdio MCP to fabric_data + pgvector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760720" y="4526280"/>
            <a:ext cx="164592" cy="274320"/>
          </a:xfrm>
          <a:prstGeom prst="downArrow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" y="4800600"/>
            <a:ext cx="11521440" cy="150876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73752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47857"/>
                </a:solidFill>
                <a:latin typeface="Calibri"/>
              </a:rPr>
              <a:t>Layer 3 — Data Retrieval (mcp_server FastMCP)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1208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0B1F33"/>
                </a:solidFill>
                <a:latin typeface="Calibri"/>
              </a:rPr>
              <a:t>get_expiring_contracts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21208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0B1F33"/>
                </a:solidFill>
                <a:latin typeface="Calibri"/>
              </a:rPr>
              <a:t>get_vendor_spend_summary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521208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0B1F33"/>
                </a:solidFill>
                <a:latin typeface="Calibri"/>
              </a:rPr>
              <a:t>compare_contracts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521208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0B1F33"/>
                </a:solidFill>
                <a:latin typeface="Calibri"/>
              </a:rPr>
              <a:t>check_missing_fields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521208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0B1F33"/>
                </a:solidFill>
                <a:latin typeface="Calibri"/>
              </a:rPr>
              <a:t>search_cloud_blob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3383280" cy="3657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B45309"/>
                </a:solidFill>
                <a:latin typeface="Calibri"/>
              </a:rPr>
              <a:t>Microsoft Fabric SQL (Gold)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5806440"/>
            <a:ext cx="338328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Azure AI Search (semantic hybrid)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5806440"/>
            <a:ext cx="3383280" cy="3657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6D28D9"/>
                </a:solidFill>
                <a:latin typeface="Calibri"/>
              </a:rPr>
              <a:t>Postgres / PGVector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2. End-to-End Request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Production control loop — UI ingress → tool execution → Markdown synthesis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1. User asks in Streamlit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4630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2. POST /api/messages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4630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3. Azure OpenAI plans tool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4630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4. MCP tools execute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0360" y="182880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623560" y="182880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8366760" y="182880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9692640" y="2560320"/>
            <a:ext cx="201168" cy="411480"/>
          </a:xfrm>
          <a:prstGeom prst="down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8. UI renders answer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10896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7. Flask reply activity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10896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6. LLM synthesizes Markdown sections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310896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5. Evidence returned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880360" y="347472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23560" y="347472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8366760" y="3474720"/>
            <a:ext cx="274320" cy="201168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eft Arrow 19"/>
          <p:cNvSpPr/>
          <p:nvPr/>
        </p:nvSpPr>
        <p:spPr>
          <a:xfrm>
            <a:off x="2880360" y="3474720"/>
            <a:ext cx="274320" cy="201168"/>
          </a:xfrm>
          <a:prstGeom prst="lef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5623560" y="3474720"/>
            <a:ext cx="274320" cy="201168"/>
          </a:xfrm>
          <a:prstGeom prst="lef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eft Arrow 21"/>
          <p:cNvSpPr/>
          <p:nvPr/>
        </p:nvSpPr>
        <p:spPr>
          <a:xfrm>
            <a:off x="8366760" y="3474720"/>
            <a:ext cx="274320" cy="201168"/>
          </a:xfrm>
          <a:prstGeom prst="lef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" y="4480560"/>
            <a:ext cx="11430000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5371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94A3B8"/>
                </a:solidFill>
                <a:latin typeface="Calibri"/>
              </a:rPr>
              <a:t>Intent → Tool Domain Routing (SYSTEM_PROMPT)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02920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Financial / dates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Fabric SQL 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502920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Compare / completeness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Analytics tools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502920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Legal clauses / PDFs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 AI Search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502920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Session memory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PGVector 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3. Contract Lifecycle Cognitive Procedures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Analysis enforced in orchestrator SYSTEM_PROMPT — not in MCP tool bodies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33"/>
                </a:solidFill>
                <a:latin typeface="Calibri"/>
              </a:rPr>
              <a:t>User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0972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33"/>
                </a:solidFill>
                <a:latin typeface="Calibri"/>
              </a:rPr>
              <a:t>Tools Invoked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0972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33"/>
                </a:solidFill>
                <a:latin typeface="Calibri"/>
              </a:rPr>
              <a:t>Required Markdown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33832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Single-agreement audit / red flag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40480" y="171907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0" y="1463040"/>
            <a:ext cx="3474720" cy="685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check_missing_contract_fields + search_cloud_blob_contracts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680960" y="171907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79" y="1463040"/>
            <a:ext cx="3749039" cy="685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C2410C"/>
                </a:solidFill>
                <a:latin typeface="Calibri"/>
              </a:rPr>
              <a:t>## Red-Flag Compliance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86000"/>
            <a:ext cx="33832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High-risk clause found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40480" y="254203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0" y="2286000"/>
            <a:ext cx="3474720" cy="685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search_cloud_blob_contracts (clause evidence)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80960" y="254203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55279" y="2286000"/>
            <a:ext cx="3749039" cy="685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C2410C"/>
                </a:solidFill>
                <a:latin typeface="Calibri"/>
              </a:rPr>
              <a:t>## Dynamic Counter-Clause Drafting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108960"/>
            <a:ext cx="33832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Penalty / breach exposure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840480" y="336499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0" y="3108960"/>
            <a:ext cx="3474720" cy="685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get_vendor_spend_summary + expiring/compare + search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80960" y="336499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55279" y="3108960"/>
            <a:ext cx="3749039" cy="6858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B45309"/>
                </a:solidFill>
                <a:latin typeface="Calibri"/>
              </a:rPr>
              <a:t>## Financial Exposure Projection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931920"/>
            <a:ext cx="33832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Expiring / renew / terminate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40480" y="418795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114800" y="3931920"/>
            <a:ext cx="3474720" cy="685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get_expiring_contracts + get_vendor_spend_summary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680960" y="418795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55279" y="3931920"/>
            <a:ext cx="3749039" cy="68580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E6B6B"/>
                </a:solidFill>
                <a:latin typeface="Calibri"/>
              </a:rPr>
              <a:t>## Proactive Renewal Strategy Sheet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754880"/>
            <a:ext cx="33832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0B1F33"/>
                </a:solidFill>
                <a:latin typeface="Calibri"/>
              </a:rPr>
              <a:t>Compare 2+N contracts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840480" y="501091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14800" y="4754880"/>
            <a:ext cx="3474720" cy="685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0B1F33"/>
                </a:solidFill>
                <a:latin typeface="Calibri"/>
              </a:rPr>
              <a:t>compare_contracts + spend + search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680960" y="5010912"/>
            <a:ext cx="22860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55279" y="4754880"/>
            <a:ext cx="3749039" cy="6858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1D4ED8"/>
                </a:solidFill>
                <a:latin typeface="Calibri"/>
              </a:rPr>
              <a:t>## Recommendation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760720"/>
            <a:ext cx="11430000" cy="45720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D28D9"/>
                </a:solidFill>
                <a:latin typeface="Calibri"/>
              </a:rPr>
              <a:t>When multiple procedures apply: Audit → Counter-Clause → Exposure → Renewal → Recommendation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4. Comparative Analysis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N-way compare supported via comma-separated contract_refs / supplier_names / 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017520" cy="18288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600" b="1">
                <a:solidFill>
                  <a:srgbClr val="0B1F33"/>
                </a:solidFill>
                <a:latin typeface="Calibri"/>
              </a:rPr>
              <a:t>1. Quantitative Comparison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ACV, tenure, auto-renew, · historical vendor spend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94560"/>
            <a:ext cx="3017520" cy="1828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600" b="1">
                <a:solidFill>
                  <a:srgbClr val="0B1F33"/>
                </a:solidFill>
                <a:latin typeface="Calibri"/>
              </a:rPr>
              <a:t>2. Risk &amp; Liability Assessment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Liability caps, indemnity, · SLA, termination / exit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194560"/>
            <a:ext cx="3017520" cy="18288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600" b="1">
                <a:solidFill>
                  <a:srgbClr val="0B1F33"/>
                </a:solidFill>
                <a:latin typeface="Calibri"/>
              </a:rPr>
              <a:t>3. Explicit Suggestion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## Recommendation · winner + ranked runners-up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3017520"/>
            <a:ext cx="502920" cy="25603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726679" y="3017520"/>
            <a:ext cx="502920" cy="25603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09728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Do not merely juxtapose excerpts — decide which option is structurally superior / lower 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Tools: compare_contracts · get_vendor_spend_summary · get_expiring_contracts · search_cloud_blob_contracts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5. Azure AI Foundry Provisioning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copilot_agent/deploy_to_foundry.py — DefaultAzureCredential + FunctionTool / ToolSet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Root .env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AZURE_FOUNDRY_ CONNECTION_STRING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0116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DefaultAzure Credential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Entra ID auth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20116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Import MCP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3 Fabric/Search callables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0116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FunctionTool + ToolSet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azure-ai-agents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2011680"/>
            <a:ext cx="2103120" cy="18288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0B1F33"/>
                </a:solidFill>
                <a:latin typeface="Calibri"/>
              </a:rPr>
              <a:t>create_agent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SYSTEM_PROMPT instructions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83464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92040" y="283464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269480" y="283464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646920" y="283464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0B1F33"/>
                </a:solidFill>
                <a:latin typeface="Calibri"/>
              </a:rPr>
              <a:t>Foundry ToolSet: get_expiring_contracts · get_vendor_spend_summary · search_cloud_blob_contracts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12064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0B1F33"/>
                </a:solidFill>
                <a:latin typeface="Calibri"/>
              </a:rPr>
              <a:t>Full local MCP also exposes: compare_contracts · check_missing_contract_fields · fabric_health_check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6. Component &amp; Change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Production capabilities delivered (mock/offline staging excluded)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2560320" cy="7315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047857"/>
                </a:solidFill>
                <a:latin typeface="Calibri"/>
              </a:rPr>
              <a:t>Data Retrieval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4300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Fabric Gold tools for expiring contracts, vendor spend, N-way compare, missing-field completeness; Azure AI Search hybrid semantic search; shared lookup dimensions.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560320" cy="73152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0E6B6B"/>
                </a:solidFill>
                <a:latin typeface="Calibri"/>
              </a:rPr>
              <a:t>Cognitive Routing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01168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LangChain OpenAI-tools agent with strict domain routing; Comparative Analysis framework; four lifecycle procedures with mandatory Markdown sections.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80360"/>
            <a:ext cx="2560320" cy="7315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D4ED8"/>
                </a:solidFill>
                <a:latin typeface="Calibri"/>
              </a:rPr>
              <a:t>Validation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8803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Streamlit emulator posting Bot Framework activities to POST /api/messages and rendering Markdown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39"/>
            <a:ext cx="2560320" cy="7315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6D28D9"/>
                </a:solidFill>
                <a:latin typeface="Calibri"/>
              </a:rPr>
              <a:t>Foundry Deploy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37490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DefaultAzureCredential + ToolSet/FunctionTool provisioning via AZURE_FOUNDRY_CONNECTION_STRING.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617720"/>
            <a:ext cx="2560320" cy="7315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B45309"/>
                </a:solidFill>
                <a:latin typeface="Calibri"/>
              </a:rPr>
              <a:t>Config Boundary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46177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Single root .env; MCP remains free of orchestration / LLM logic.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VAL CoPilot · Production architecture only (no mock/offline paths) · Slide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
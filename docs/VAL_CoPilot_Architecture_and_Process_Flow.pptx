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28800"/>
            <a:ext cx="12191695" cy="256032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VAL CoPilot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8036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D9F3F3"/>
                </a:solidFill>
                <a:latin typeface="Calibri"/>
              </a:rPr>
              <a:t>Synthetic Contract Intelligence
Tool-Layer POC — Architecture &amp; Process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846320"/>
            <a:ext cx="99669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Calibri"/>
              </a:rPr>
              <a:t>Current: Streamlit → Flask /api/messages → LangChain or offline router → FastMCP tools → synthetic Gold data</a:t>
            </a:r>
          </a:p>
          <a:p>
            <a:pPr algn="ctr"/>
            <a:r>
              <a:rPr sz="1300" b="0">
                <a:solidFill>
                  <a:srgbClr val="334155"/>
                </a:solidFill>
                <a:latin typeface="Calibri"/>
              </a:rPr>
              <a:t>Future: Streamlit/Teams → Azure AI Foundry Agent → same MCP/API tools → LinkSquares later</a:t>
            </a:r>
          </a:p>
          <a:p>
            <a:pPr algn="ctr"/>
            <a:r>
              <a:rPr sz="1300" b="0">
                <a:solidFill>
                  <a:srgbClr val="334155"/>
                </a:solidFill>
                <a:latin typeface="Calibri"/>
              </a:rPr>
              <a:t>Not Azure AI Foundry-first today · Invoice/actual-spend systems are out of scope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Calibri"/>
              </a:rPr>
              <a:t>1. Current vs Future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334155"/>
                </a:solidFill>
                <a:latin typeface="Calibri"/>
              </a:rPr>
              <a:t>Keep the tool layer stable; swap the cognitive host later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280160"/>
            <a:ext cx="5577840" cy="4754880"/>
          </a:xfrm>
          <a:prstGeom prst="roundRect">
            <a:avLst>
              <a:gd name="adj" fmla="val 12000"/>
            </a:avLst>
          </a:prstGeom>
          <a:solidFill>
            <a:srgbClr val="D9F3F3"/>
          </a:solidFill>
          <a:ln w="15875">
            <a:solidFill>
              <a:srgbClr val="0E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B1F33"/>
                </a:solidFill>
                <a:latin typeface="Calibri"/>
              </a:rPr>
              <a:t>CURRENT — Tool-Layer POC</a:t>
            </a:r>
          </a:p>
          <a:p>
            <a:pPr algn="ctr"/>
            <a:r>
              <a:rPr sz="1300" b="0">
                <a:solidFill>
                  <a:srgbClr val="334155"/>
                </a:solidFill>
                <a:latin typeface="Calibri"/>
              </a:rPr>
              <a:t>Streamlit UI
→ Flask POST /api/messages
→ LangChain AgentExecutor
   or offline cognitive router
→ FastMCP tool server
→ ContractRepository
→ Synthetic Gold fixtures
   (Fabric SQL / AI Search later)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280160"/>
            <a:ext cx="5577840" cy="47548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B1F33"/>
                </a:solidFill>
                <a:latin typeface="Calibri"/>
              </a:rPr>
              <a:t>FUTURE — Foundry-hosted agent</a:t>
            </a:r>
          </a:p>
          <a:p>
            <a:pPr algn="ctr"/>
            <a:r>
              <a:rPr sz="1300" b="0">
                <a:solidFill>
                  <a:srgbClr val="334155"/>
                </a:solidFill>
                <a:latin typeface="Calibri"/>
              </a:rPr>
              <a:t>Streamlit or Teams UI
→ Azure AI Foundry Agent
→ Same MCP / API tools
→ ContractRepository
→ Synthetic contract data now
→ LinkSquares / CLM later
→ Grounded 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Synthetic Contract Intelligence Tool-Layer POC · Slide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Calibri"/>
              </a:rPr>
              <a:t>2. Tool-Layer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334155"/>
                </a:solidFill>
                <a:latin typeface="Calibri"/>
              </a:rPr>
              <a:t>Three layers + replaceable ContractRepository + invoice OOS guardrail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143000"/>
            <a:ext cx="11521440" cy="105156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 w="1587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1F33"/>
                </a:solidFill>
                <a:latin typeface="Calibri"/>
              </a:rPr>
              <a:t>Layer 1 — Validation UI (test_ui)</a:t>
            </a:r>
          </a:p>
          <a:p>
            <a:pPr algn="ctr"/>
            <a:r>
              <a:rPr sz="1200" b="0">
                <a:solidFill>
                  <a:srgbClr val="334155"/>
                </a:solidFill>
                <a:latin typeface="Calibri"/>
              </a:rPr>
              <a:t>Streamlit Bot Framework harness → COPILOT_MESSAGES_URL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2331720"/>
            <a:ext cx="11521440" cy="1554480"/>
          </a:xfrm>
          <a:prstGeom prst="roundRect">
            <a:avLst>
              <a:gd name="adj" fmla="val 12000"/>
            </a:avLst>
          </a:prstGeom>
          <a:solidFill>
            <a:srgbClr val="D9F3F3"/>
          </a:solidFill>
          <a:ln w="15875">
            <a:solidFill>
              <a:srgbClr val="0E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1F33"/>
                </a:solidFill>
                <a:latin typeface="Calibri"/>
              </a:rPr>
              <a:t>Layer 2 — Cognitive Routing (copilot_agent)</a:t>
            </a:r>
          </a:p>
          <a:p>
            <a:pPr algn="ctr"/>
            <a:r>
              <a:rPr sz="1200" b="0">
                <a:solidFill>
                  <a:srgbClr val="334155"/>
                </a:solidFill>
                <a:latin typeface="Calibri"/>
              </a:rPr>
              <a:t>Flask /api/messages · LangChain AzureChatOpenAI / offline_router · SYSTEM_PROMPT · invoice OOS hard-match before tools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4023360"/>
            <a:ext cx="11521440" cy="210312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15875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1F33"/>
                </a:solidFill>
                <a:latin typeface="Calibri"/>
              </a:rPr>
              <a:t>Layer 3 — Data Retrieval (mcp_server)</a:t>
            </a:r>
          </a:p>
          <a:p>
            <a:pPr algn="ctr"/>
            <a:r>
              <a:rPr sz="1100" b="0">
                <a:solidFill>
                  <a:srgbClr val="334155"/>
                </a:solidFill>
                <a:latin typeface="Calibri"/>
              </a:rPr>
              <a:t>ContractRepository → FabricContractRepository (synthetic Gold today)
Tools: search_contracts · get_contract_profile · find_overlaps · explain_contract_risk · compare_contracts · check_missing_contract_fields · get_expiring_contracts · get_vendor_spend_summary · search_cloud_blob_contracts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Synthetic Contract Intelligence Tool-Layer POC · Slide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Calibri"/>
              </a:rPr>
              <a:t>3. End-to-End Request Process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334155"/>
                </a:solidFill>
                <a:latin typeface="Calibri"/>
              </a:rPr>
              <a:t>Deterministic offline path used for demo reliability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554480"/>
            <a:ext cx="2148840" cy="128016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 w="1587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1. User prompt</a:t>
            </a:r>
          </a:p>
          <a:p>
            <a:pPr algn="ctr"/>
            <a:r>
              <a:rPr sz="1100" b="0">
                <a:solidFill>
                  <a:srgbClr val="334155"/>
                </a:solidFill>
                <a:latin typeface="Calibri"/>
              </a:rPr>
              <a:t>Streamlit chat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1554480"/>
            <a:ext cx="2148840" cy="128016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 w="15875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2. Invoice OOS?</a:t>
            </a:r>
          </a:p>
          <a:p>
            <a:pPr algn="ctr"/>
            <a:r>
              <a:rPr sz="1100" b="0">
                <a:solidFill>
                  <a:srgbClr val="334155"/>
                </a:solidFill>
                <a:latin typeface="Calibri"/>
              </a:rPr>
              <a:t>Hard refuse if invoice/AP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83480" y="1554480"/>
            <a:ext cx="2148840" cy="1280160"/>
          </a:xfrm>
          <a:prstGeom prst="roundRect">
            <a:avLst>
              <a:gd name="adj" fmla="val 12000"/>
            </a:avLst>
          </a:prstGeom>
          <a:solidFill>
            <a:srgbClr val="D9F3F3"/>
          </a:solidFill>
          <a:ln w="15875">
            <a:solidFill>
              <a:srgbClr val="0E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3. Route intent</a:t>
            </a:r>
          </a:p>
          <a:p>
            <a:pPr algn="ctr"/>
            <a:r>
              <a:rPr sz="1100" b="0">
                <a:solidFill>
                  <a:srgbClr val="334155"/>
                </a:solidFill>
                <a:latin typeface="Calibri"/>
              </a:rPr>
              <a:t>offline_router / LLM tools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1554480"/>
            <a:ext cx="2148840" cy="128016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15875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4. MCP tools</a:t>
            </a:r>
          </a:p>
          <a:p>
            <a:pPr algn="ctr"/>
            <a:r>
              <a:rPr sz="1100" b="0">
                <a:solidFill>
                  <a:srgbClr val="334155"/>
                </a:solidFill>
                <a:latin typeface="Calibri"/>
              </a:rPr>
              <a:t>ContractRepository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46920" y="1554480"/>
            <a:ext cx="2148840" cy="1280160"/>
          </a:xfrm>
          <a:prstGeom prst="roundRect">
            <a:avLst>
              <a:gd name="adj" fmla="val 12000"/>
            </a:avLst>
          </a:prstGeom>
          <a:solidFill>
            <a:srgbClr val="FFEDD5"/>
          </a:solidFill>
          <a:ln w="15875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5. Markdown reply</a:t>
            </a:r>
          </a:p>
          <a:p>
            <a:pPr algn="ctr"/>
            <a:r>
              <a:rPr sz="1100" b="0">
                <a:solidFill>
                  <a:srgbClr val="334155"/>
                </a:solidFill>
                <a:latin typeface="Calibri"/>
              </a:rPr>
              <a:t>Grounded sections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331720" y="2103120"/>
            <a:ext cx="274320" cy="164592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4663440" y="2103120"/>
            <a:ext cx="274320" cy="164592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6995160" y="2103120"/>
            <a:ext cx="274320" cy="164592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9326880" y="2103120"/>
            <a:ext cx="274320" cy="164592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5760" y="3200400"/>
            <a:ext cx="11430000" cy="283464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1F33"/>
                </a:solidFill>
                <a:latin typeface="Calibri"/>
              </a:rPr>
              <a:t>Intent → primary tool</a:t>
            </a:r>
          </a:p>
          <a:p>
            <a:pPr algn="ctr"/>
            <a:r>
              <a:rPr sz="1200" b="0">
                <a:solidFill>
                  <a:srgbClr val="334155"/>
                </a:solidFill>
                <a:latin typeface="Calibri"/>
              </a:rPr>
              <a:t>Show contracts for vendor → search_contracts
Details for C-1001 → get_contract_profile
Overlapping contracts → find_overlaps
Unusual payment / high rates → explain_contract_risk
Compare C-1001 vs C-1002 → compare_contracts
Need action next 90 days → get_expiring_contracts
Missing renewal info → check_missing_contract_fields
Invoice spend also? → exact OOS refusal (no tools)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Synthetic Contract Intelligence Tool-Layer POC · Slide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Calibri"/>
              </a:rPr>
              <a:t>4. ContractRepository Abstraction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334155"/>
                </a:solidFill>
                <a:latin typeface="Calibri"/>
              </a:rPr>
              <a:t>Data source is replaceable without changing tool contracts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3657600" cy="4754880"/>
          </a:xfrm>
          <a:prstGeom prst="roundRect">
            <a:avLst>
              <a:gd name="adj" fmla="val 12000"/>
            </a:avLst>
          </a:prstGeom>
          <a:solidFill>
            <a:srgbClr val="D9F3F3"/>
          </a:solidFill>
          <a:ln w="15875">
            <a:solidFill>
              <a:srgbClr val="0E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B1F33"/>
                </a:solidFill>
                <a:latin typeface="Calibri"/>
              </a:rPr>
              <a:t>ContractRepository</a:t>
            </a:r>
          </a:p>
          <a:p>
            <a:pPr algn="ctr"/>
            <a:r>
              <a:rPr sz="1400" b="0">
                <a:solidFill>
                  <a:srgbClr val="334155"/>
                </a:solidFill>
                <a:latin typeface="Calibri"/>
              </a:rPr>
              <a:t>list_all()
get_by_id(contract_id)
search(filters)
get_by_vendor(vendor)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97680" y="3383280"/>
            <a:ext cx="457200" cy="256032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937760" y="1280160"/>
            <a:ext cx="3291840" cy="210312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15875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0B1F33"/>
                </a:solidFill>
                <a:latin typeface="Calibri"/>
              </a:rPr>
              <a:t>Today</a:t>
            </a:r>
          </a:p>
          <a:p>
            <a:pPr algn="ctr"/>
            <a:r>
              <a:rPr sz="1300" b="0">
                <a:solidFill>
                  <a:srgbClr val="334155"/>
                </a:solidFill>
                <a:latin typeface="Calibri"/>
              </a:rPr>
              <a:t>FabricContractRepository
→ Gold_Vendor_Contracts
→ offline fixtures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760" y="3657600"/>
            <a:ext cx="3291840" cy="237744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0B1F33"/>
                </a:solidFill>
                <a:latin typeface="Calibri"/>
              </a:rPr>
              <a:t>Later</a:t>
            </a:r>
          </a:p>
          <a:p>
            <a:pPr algn="ctr"/>
            <a:r>
              <a:rPr sz="1300" b="0">
                <a:solidFill>
                  <a:srgbClr val="334155"/>
                </a:solidFill>
                <a:latin typeface="Calibri"/>
              </a:rPr>
              <a:t>LinkSquares / CLM adapter
same tool signatures
same snake_case projections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03920" y="1280160"/>
            <a:ext cx="3200400" cy="475488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 w="15875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0B1F33"/>
                </a:solidFill>
                <a:latin typeface="Calibri"/>
              </a:rPr>
              <a:t>Consumers</a:t>
            </a:r>
          </a:p>
          <a:p>
            <a:pPr algn="ctr"/>
            <a:r>
              <a:rPr sz="1200" b="0">
                <a:solidFill>
                  <a:srgbClr val="334155"/>
                </a:solidFill>
                <a:latin typeface="Calibri"/>
              </a:rPr>
              <a:t>search_contracts
get_contract_profile
find_overlaps
explain_contract_risk
compare / missing / expiring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Synthetic Contract Intelligence Tool-Layer POC · Slide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Calibri"/>
              </a:rPr>
              <a:t>5. Structured Intelligence Tools (P0/P1)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334155"/>
                </a:solidFill>
                <a:latin typeface="Calibri"/>
              </a:rPr>
              <a:t>Grounded metadata tools — not document search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188720"/>
            <a:ext cx="3566160" cy="210312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15875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1F33"/>
                </a:solidFill>
                <a:latin typeface="Calibri"/>
              </a:rPr>
              <a:t>search_contracts</a:t>
            </a:r>
          </a:p>
          <a:p>
            <a:pPr algn="ctr"/>
            <a:r>
              <a:rPr sz="1200" b="0">
                <a:solidFill>
                  <a:srgbClr val="334155"/>
                </a:solidFill>
                <a:latin typeface="Calibri"/>
              </a:rPr>
              <a:t>Vendor/BU/status/type filters
Stable snake_case catalog rows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188720"/>
            <a:ext cx="3566160" cy="2103120"/>
          </a:xfrm>
          <a:prstGeom prst="roundRect">
            <a:avLst>
              <a:gd name="adj" fmla="val 12000"/>
            </a:avLst>
          </a:prstGeom>
          <a:solidFill>
            <a:srgbClr val="D9F3F3"/>
          </a:solidFill>
          <a:ln w="15875">
            <a:solidFill>
              <a:srgbClr val="0E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1F33"/>
                </a:solidFill>
                <a:latin typeface="Calibri"/>
              </a:rPr>
              <a:t>get_contract_profile</a:t>
            </a:r>
          </a:p>
          <a:p>
            <a:pPr algn="ctr"/>
            <a:r>
              <a:rPr sz="1200" b="0">
                <a:solidFill>
                  <a:srgbClr val="334155"/>
                </a:solidFill>
                <a:latin typeface="Calibri"/>
              </a:rPr>
              <a:t>One contract_id profile
+ missing_fields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188720"/>
            <a:ext cx="3566160" cy="2103120"/>
          </a:xfrm>
          <a:prstGeom prst="roundRect">
            <a:avLst>
              <a:gd name="adj" fmla="val 12000"/>
            </a:avLst>
          </a:prstGeom>
          <a:solidFill>
            <a:srgbClr val="FFEDD5"/>
          </a:solidFill>
          <a:ln w="15875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1F33"/>
                </a:solidFill>
                <a:latin typeface="Calibri"/>
              </a:rPr>
              <a:t>find_overlaps</a:t>
            </a:r>
          </a:p>
          <a:p>
            <a:pPr algn="ctr"/>
            <a:r>
              <a:rPr sz="1200" b="0">
                <a:solidFill>
                  <a:srgbClr val="334155"/>
                </a:solidFill>
                <a:latin typeface="Calibri"/>
              </a:rPr>
              <a:t>Same-vendor date overlaps
contract_a/b + window + why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3657600"/>
            <a:ext cx="3566160" cy="210312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1F33"/>
                </a:solidFill>
                <a:latin typeface="Calibri"/>
              </a:rPr>
              <a:t>explain_contract_risk</a:t>
            </a:r>
          </a:p>
          <a:p>
            <a:pPr algn="ctr"/>
            <a:r>
              <a:rPr sz="1200" b="0">
                <a:solidFill>
                  <a:srgbClr val="334155"/>
                </a:solidFill>
                <a:latin typeface="Calibri"/>
              </a:rPr>
              <a:t>known_facts vs computed_risks
missing_data + review action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3657600"/>
            <a:ext cx="3566160" cy="210312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 w="15875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1F33"/>
                </a:solidFill>
                <a:latin typeface="Calibri"/>
              </a:rPr>
              <a:t>Invoice OOS guardrail</a:t>
            </a:r>
          </a:p>
          <a:p>
            <a:pPr algn="ctr"/>
            <a:r>
              <a:rPr sz="1200" b="0">
                <a:solidFill>
                  <a:srgbClr val="334155"/>
                </a:solidFill>
                <a:latin typeface="Calibri"/>
              </a:rPr>
              <a:t>Exact refusal before tools
Never treat ACV as invoices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3657600"/>
            <a:ext cx="3566160" cy="210312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 w="15875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1F33"/>
                </a:solidFill>
                <a:latin typeface="Calibri"/>
              </a:rPr>
              <a:t>Demo fixtures</a:t>
            </a:r>
          </a:p>
          <a:p>
            <a:pPr algn="ctr"/>
            <a:r>
              <a:rPr sz="1200" b="0">
                <a:solidFill>
                  <a:srgbClr val="334155"/>
                </a:solidFill>
                <a:latin typeface="Calibri"/>
              </a:rPr>
              <a:t>AlphaTech C-1001 / C-1002 / C-1003
Deliberate overlaps &amp; Net 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Synthetic Contract Intelligence Tool-Layer POC · Slide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Calibri"/>
              </a:rPr>
              <a:t>6. Overlap &amp; Risk Explanation Process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334155"/>
                </a:solidFill>
                <a:latin typeface="Calibri"/>
              </a:rPr>
              <a:t>Separate facts from computed risks — no invented findings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280160"/>
            <a:ext cx="3657600" cy="4754880"/>
          </a:xfrm>
          <a:prstGeom prst="roundRect">
            <a:avLst>
              <a:gd name="adj" fmla="val 12000"/>
            </a:avLst>
          </a:prstGeom>
          <a:solidFill>
            <a:srgbClr val="FFEDD5"/>
          </a:solidFill>
          <a:ln w="15875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0B1F33"/>
                </a:solidFill>
                <a:latin typeface="Calibri"/>
              </a:rPr>
              <a:t>find_overlaps</a:t>
            </a:r>
          </a:p>
          <a:p>
            <a:pPr algn="ctr"/>
            <a:r>
              <a:rPr sz="1200" b="0">
                <a:solidFill>
                  <a:srgbClr val="334155"/>
                </a:solidFill>
                <a:latin typeface="Calibri"/>
              </a:rPr>
              <a:t>1. Load contracts via repository
2. Group by vendor
3. Intersect effective→expiration
4. Emit overlap_start/end
5. why_flagged + source
Demo: C-1001 ∩ C-1002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280160"/>
            <a:ext cx="3657600" cy="47548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0B1F33"/>
                </a:solidFill>
                <a:latin typeface="Calibri"/>
              </a:rPr>
              <a:t>explain_contract_risk</a:t>
            </a:r>
          </a:p>
          <a:p>
            <a:pPr algn="ctr"/>
            <a:r>
              <a:rPr sz="1200" b="0">
                <a:solidFill>
                  <a:srgbClr val="334155"/>
                </a:solidFill>
                <a:latin typeface="Calibri"/>
              </a:rPr>
              <a:t>Flags only if data supports:
• missing renewal
• missing rate card
• expiring soon
• Net 90+ terms
• high ACV outlier
• high supplier risk
• overlapping contract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1280160"/>
            <a:ext cx="3566160" cy="4754880"/>
          </a:xfrm>
          <a:prstGeom prst="roundRect">
            <a:avLst>
              <a:gd name="adj" fmla="val 12000"/>
            </a:avLst>
          </a:prstGeom>
          <a:solidFill>
            <a:srgbClr val="D9F3F3"/>
          </a:solidFill>
          <a:ln w="15875">
            <a:solidFill>
              <a:srgbClr val="0E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0B1F33"/>
                </a:solidFill>
                <a:latin typeface="Calibri"/>
              </a:rPr>
              <a:t>Response sections</a:t>
            </a:r>
          </a:p>
          <a:p>
            <a:pPr algn="ctr"/>
            <a:r>
              <a:rPr sz="1200" b="0">
                <a:solidFill>
                  <a:srgbClr val="334155"/>
                </a:solidFill>
                <a:latin typeface="Calibri"/>
              </a:rPr>
              <a:t>known_facts
computed_risks
missing_data
recommended_review_action
source
Never invent unsupported 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Synthetic Contract Intelligence Tool-Layer POC · Slide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Calibri"/>
              </a:rPr>
              <a:t>7. Full MCP Tool Inventory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334155"/>
                </a:solidFill>
                <a:latin typeface="Calibri"/>
              </a:rPr>
              <a:t>fabric_data FastMCP server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5486400" cy="438912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15875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0B1F33"/>
                </a:solidFill>
                <a:latin typeface="Calibri"/>
              </a:rPr>
              <a:t>Structured / analytics</a:t>
            </a:r>
          </a:p>
          <a:p>
            <a:pPr algn="ctr"/>
            <a:r>
              <a:rPr sz="1300" b="0">
                <a:solidFill>
                  <a:srgbClr val="334155"/>
                </a:solidFill>
                <a:latin typeface="Calibri"/>
              </a:rPr>
              <a:t>search_contracts
get_contract_profile
find_overlaps
explain_contract_risk
compare_contracts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280160"/>
            <a:ext cx="5394960" cy="438912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 w="1587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0B1F33"/>
                </a:solidFill>
                <a:latin typeface="Calibri"/>
              </a:rPr>
              <a:t>Commercial / docs / health</a:t>
            </a:r>
          </a:p>
          <a:p>
            <a:pPr algn="ctr"/>
            <a:r>
              <a:rPr sz="1300" b="0">
                <a:solidFill>
                  <a:srgbClr val="334155"/>
                </a:solidFill>
                <a:latin typeface="Calibri"/>
              </a:rPr>
              <a:t>check_missing_contract_fields
get_expiring_contracts
get_vendor_spend_summary (ACV rollup only)
search_cloud_blob_contracts (docs)
fabric_health_check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Synthetic Contract Intelligence Tool-Layer POC · Slide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Calibri"/>
              </a:rPr>
              <a:t>8. Optional Future — Azure AI Foundry Deploy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334155"/>
                </a:solidFill>
                <a:latin typeface="Calibri"/>
              </a:rPr>
              <a:t>deploy_to_foundry.py is optional; current POC does not require Foundry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828800"/>
            <a:ext cx="2103120" cy="2011680"/>
          </a:xfrm>
          <a:prstGeom prst="roundRect">
            <a:avLst>
              <a:gd name="adj" fmla="val 12000"/>
            </a:avLst>
          </a:prstGeom>
          <a:solidFill>
            <a:srgbClr val="D9F3F3"/>
          </a:solidFill>
          <a:ln w="15875">
            <a:solidFill>
              <a:srgbClr val="0E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Root .env</a:t>
            </a:r>
          </a:p>
          <a:p>
            <a:pPr algn="ctr"/>
            <a:r>
              <a:rPr sz="1100" b="0">
                <a:solidFill>
                  <a:srgbClr val="334155"/>
                </a:solidFill>
                <a:latin typeface="Calibri"/>
              </a:rPr>
              <a:t>AZURE_FOUNDRY_ CONNECTION_STRING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1828800"/>
            <a:ext cx="2103120" cy="2011680"/>
          </a:xfrm>
          <a:prstGeom prst="roundRect">
            <a:avLst>
              <a:gd name="adj" fmla="val 12000"/>
            </a:avLst>
          </a:prstGeom>
          <a:solidFill>
            <a:srgbClr val="FFEDD5"/>
          </a:solidFill>
          <a:ln w="15875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Entra auth</a:t>
            </a:r>
          </a:p>
          <a:p>
            <a:pPr algn="ctr"/>
            <a:r>
              <a:rPr sz="1100" b="0">
                <a:solidFill>
                  <a:srgbClr val="334155"/>
                </a:solidFill>
                <a:latin typeface="Calibri"/>
              </a:rPr>
              <a:t>DefaultAzureCredential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1828800"/>
            <a:ext cx="2103120" cy="201168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15875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Wrap tools</a:t>
            </a:r>
          </a:p>
          <a:p>
            <a:pPr algn="ctr"/>
            <a:r>
              <a:rPr sz="1100" b="0">
                <a:solidFill>
                  <a:srgbClr val="334155"/>
                </a:solidFill>
                <a:latin typeface="Calibri"/>
              </a:rPr>
              <a:t>FunctionTool ToolSet (7 MCP tools)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1828800"/>
            <a:ext cx="2103120" cy="201168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 w="1587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create_agent</a:t>
            </a:r>
          </a:p>
          <a:p>
            <a:pPr algn="ctr"/>
            <a:r>
              <a:rPr sz="1100" b="0">
                <a:solidFill>
                  <a:srgbClr val="334155"/>
                </a:solidFill>
                <a:latin typeface="Calibri"/>
              </a:rPr>
              <a:t>SYSTEM_PROMPT + OOS guardrail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1828800"/>
            <a:ext cx="2103120" cy="201168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Future host</a:t>
            </a:r>
          </a:p>
          <a:p>
            <a:pPr algn="ctr"/>
            <a:r>
              <a:rPr sz="1100" b="0">
                <a:solidFill>
                  <a:srgbClr val="334155"/>
                </a:solidFill>
                <a:latin typeface="Calibri"/>
              </a:rPr>
              <a:t>Teams / Foundry UI same tool contracts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14600" y="2743200"/>
            <a:ext cx="201168" cy="18288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4892040" y="2743200"/>
            <a:ext cx="201168" cy="18288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7269480" y="2743200"/>
            <a:ext cx="201168" cy="18288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9646920" y="2743200"/>
            <a:ext cx="201168" cy="18288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" y="4206240"/>
            <a:ext cx="11247120" cy="164592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 w="1587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1F33"/>
                </a:solidFill>
                <a:latin typeface="Calibri"/>
              </a:rPr>
              <a:t>Deploy script ToolSet (aligned with POC structured surface)</a:t>
            </a:r>
          </a:p>
          <a:p>
            <a:pPr algn="ctr"/>
            <a:r>
              <a:rPr sz="1200" b="0">
                <a:solidFill>
                  <a:srgbClr val="334155"/>
                </a:solidFill>
                <a:latin typeface="Calibri"/>
              </a:rPr>
              <a:t>search_contracts · get_contract_profile · get_expiring_contracts · get_vendor_spend_summary · find_overlaps · explain_contract_risk · search_cloud_blob_contracts
Current demos still use Flask + FastMCP locally; Foundry is optional hosting for the same tools.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Synthetic Contract Intelligence Tool-Layer POC · Slide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Calibri"/>
              </a:rPr>
              <a:t>9. Demo-Ready Slice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2296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334155"/>
                </a:solidFill>
                <a:latin typeface="Calibri"/>
              </a:rPr>
              <a:t>Reliable · safe · synthetic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430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 w="15875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B91C1C"/>
                </a:solidFill>
                <a:latin typeface="Calibri"/>
              </a:rPr>
              <a:t>Safe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143000"/>
            <a:ext cx="86868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Invoice/AP/JDE/NetSuite asks → exact OOS refusal; ACV never labeled as invoices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10312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15875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47857"/>
                </a:solidFill>
                <a:latin typeface="Calibri"/>
              </a:rPr>
              <a:t>Structured tools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7520" y="2103120"/>
            <a:ext cx="86868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search / profile / overlaps / risk via ContractRepository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06324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D9F3F3"/>
          </a:solidFill>
          <a:ln w="15875">
            <a:solidFill>
              <a:srgbClr val="0E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E6B6B"/>
                </a:solidFill>
                <a:latin typeface="Calibri"/>
              </a:rPr>
              <a:t>Deterministic demo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17520" y="3063240"/>
            <a:ext cx="86868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E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AlphaTech C-1001..C-1003 + docs/demo_script.md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02336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6D28D9"/>
                </a:solidFill>
                <a:latin typeface="Calibri"/>
              </a:rPr>
              <a:t>Replaceable 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17520" y="4023360"/>
            <a:ext cx="86868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ContractRepository ready for LinkSquares later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98348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 w="15875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B45309"/>
                </a:solidFill>
                <a:latin typeface="Calibri"/>
              </a:rPr>
              <a:t>Foundry optional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17520" y="4983480"/>
            <a:ext cx="86868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1F33"/>
                </a:solidFill>
                <a:latin typeface="Calibri"/>
              </a:rPr>
              <a:t>Current runtime is Flask+LangChain/offline router, not Foundry-first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Synthetic Contract Intelligence Tool-Layer POC · Slide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